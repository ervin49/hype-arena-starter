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73c2966-5f90-5d69-b139-cffe866dcd49}">
          <p14:sldIdLst>
            <p14:sldId id="256"/>
          </p14:sldIdLst>
        </p14:section>
        <p14:section name="Problem" id="{3307305e-80b9-5ca3-a3b9-818c80492dc7}">
          <p14:sldIdLst>
            <p14:sldId id="257"/>
            <p14:sldId id="258"/>
          </p14:sldIdLst>
        </p14:section>
        <p14:section name="How it works" id="{8cf75673-fb28-9164-5cd9-679c8ed70b02}">
          <p14:sldIdLst>
            <p14:sldId id="259"/>
          </p14:sldIdLst>
        </p14:section>
        <p14:section name="Results" id="{cdfc415c-7763-dfe0-2de5-f327b4da4f90}">
          <p14:sldIdLst>
            <p14:sldId id="260"/>
            <p14:sldId id="261"/>
          </p14:sldIdLst>
        </p14:section>
        <p14:section name="Who it's for" id="{3c280dea-56d7-c7bb-27c7-7e19a82ca364}">
          <p14:sldIdLst>
            <p14:sldId id="262"/>
          </p14:sldIdLst>
        </p14:section>
        <p14:section name="Close" id="{df247139-e1ee-2641-2808-4cfa28e21c0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Hi, we're Git Happens. The question we answer is a simple one: is a sentence about a company still true? Not in general, but on the day it was said. That's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Facts change, but the sentences about them don't. Hooly Gmail went from four to five euros per user. Maps Day was planned for the 9th of June and held on the 23rd. Maps went from 68 countries to 74. The old sentences stay online, and today someone has to find them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(1:00–1:45) Here's one real case. These are the sources about Hooly Cloud's regions: three, then five in March, then eight from July. So the sentence 'Hooly Cloud covers 8 regions' is false if it was said in January and true if it was said in August. The engine gives 65% and 95%, and it shows these rows as its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(1:45–2:30) It works in three steps. It reads the sentence and works out what it claims. It looks up what the sources said about that fact around that date. Then it answers: true or false, how sure it is, and which sentences it used. There's no language model inside, so there's nothing that could make an answer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(2:30–3:15) How good is it? We tested it on all 1,897 practice sentences, each checked by a model that had never seen it. It gets 87% right; just saying 'true' every time would get 83. It finds 118 of the 277 false ones. And when it says it's over 90% sure, it's right 96% of the time. It's weaker on products, people and events it has never read about, below the 'always true' line, and that's what we're fixing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(3:15–3:45) Besides checking sentences, it writes new ones: a thousand facts about the company. Here are four, exactly as it wrote them. To make sure they follow the challenge's rules, we wrote a second checker from the rulebook alone, without looking at our own code, and it found nothing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(3:45–4:15) Who would use it? Marketing and legal before something goes out, documentation teams looking for pages that went stale, and chatbot teams checking their answers. It's practical: a spreadsheet in, answers out, offline on a laptop, with no API bill. Sixteen thousand sentences take just over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(4:15–4:30, then questions) Thank you. We're happy to show it live on any sentence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u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8229600" cy="1188720"/>
          </a:xfrm>
          <a:prstGeom prst="rect">
            <a:avLst/>
          </a:prstGeom>
          <a:noFill/>
          <a:ln/>
        </p:spPr>
        <p:txBody>
          <a:bodyPr wrap="square" rtlCol="0"/>
          <a:lstStyle>
            <a:lvl1pPr indent="0" marL="0">
              <a:buNone/>
              <a:defRPr lang="en-US" sz="4800" b="1" dirty="0">
                <a:solidFill>
                  <a:schemeClr val="bg1"/>
                </a:solidFill>
              </a:defRPr>
            </a:lvl1pPr>
          </a:lstStyle>
          <a:p>
            <a:pPr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822960" y="3383280"/>
            <a:ext cx="7315200" cy="1097280"/>
          </a:xfrm>
          <a:prstGeom prst="rect">
            <a:avLst/>
          </a:prstGeom>
          <a:noFill/>
          <a:ln/>
        </p:spPr>
        <p:txBody>
          <a:bodyPr wrap="square" rtlCol="0"/>
          <a:lstStyle>
            <a:lvl1pPr indent="0" marL="0">
              <a:buNone/>
              <a:defRPr lang="en-US" sz="2200" dirty="0">
                <a:solidFill>
                  <a:schemeClr val="bg1"/>
                </a:solidFill>
              </a:defRPr>
            </a:lvl1pPr>
          </a:lstStyle>
          <a:p>
            <a:pPr indent="0" marL="0">
              <a:buNone/>
            </a:pPr>
            <a:r>
              <a:rPr lang="en-US" sz="2200" dirty="0">
                <a:solidFill>
                  <a:schemeClr val="bg1"/>
                </a:solidFill>
              </a:rPr>
              <a:t>Subtitle</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hit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43032" cy="731520"/>
          </a:xfrm>
          <a:prstGeom prst="rect">
            <a:avLst/>
          </a:prstGeom>
          <a:noFill/>
          <a:ln/>
        </p:spPr>
        <p:txBody>
          <a:bodyPr wrap="square" rtlCol="0"/>
          <a:lstStyle>
            <a:lvl1pPr indent="0" marL="0">
              <a:buNone/>
              <a:defRPr lang="en-US" sz="3000" b="1" dirty="0">
                <a:solidFill>
                  <a:schemeClr val="tx1"/>
                </a:solidFill>
              </a:defRPr>
            </a:lvl1pPr>
          </a:lstStyle>
          <a:p>
            <a:pPr indent="0" marL="0">
              <a:buNone/>
            </a:pPr>
            <a:r>
              <a:rPr lang="en-US" sz="3000" b="1" dirty="0">
                <a:solidFill>
                  <a:schemeClr val="tx1"/>
                </a:solidFill>
              </a:rPr>
              <a:t>Title</a:t>
            </a:r>
            <a:endParaRPr lang="en-US" sz="3000" dirty="0"/>
          </a:p>
        </p:txBody>
      </p:sp>
      <p:sp>
        <p:nvSpPr>
          <p:cNvPr id="3" name="Text 0"/>
          <p:cNvSpPr/>
          <p:nvPr/>
        </p:nvSpPr>
        <p:spPr>
          <a:xfrm>
            <a:off x="822960" y="6355080"/>
            <a:ext cx="3657600" cy="274320"/>
          </a:xfrm>
          <a:prstGeom prst="rect">
            <a:avLst/>
          </a:prstGeom>
          <a:noFill/>
          <a:ln/>
        </p:spPr>
        <p:txBody>
          <a:bodyPr wrap="square" lIns="0" tIns="0" rIns="0" bIns="0" rtlCol="0" anchor="ctr"/>
          <a:lstStyle/>
          <a:p>
            <a:pPr indent="0" marL="0">
              <a:buNone/>
            </a:pPr>
            <a:r>
              <a:rPr lang="en-US" sz="1100" dirty="0">
                <a:solidFill>
                  <a:schemeClr val="accent6"/>
                </a:solidFill>
              </a:rPr>
              <a:t>Git Happens</a:t>
            </a:r>
            <a:endParaRPr lang="en-US" sz="1100" dirty="0"/>
          </a:p>
        </p:txBody>
      </p:sp>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8229600" cy="1188720"/>
          </a:xfrm>
          <a:prstGeom prst="rect">
            <a:avLst/>
          </a:prstGeom>
          <a:noFill/>
          <a:ln/>
        </p:spPr>
        <p:txBody>
          <a:bodyPr wrap="square" lIns="0" tIns="0" rIns="0" bIns="0" rtlCol="0" anchor="b"/>
          <a:lstStyle/>
          <a:p>
            <a:pPr indent="0" marL="0">
              <a:buNone/>
            </a:pPr>
            <a:r>
              <a:rPr lang="en-US" sz="4800" b="1" dirty="0">
                <a:solidFill>
                  <a:schemeClr val="bg1"/>
                </a:solidFill>
              </a:rPr>
              <a:t>Is it still true?</a:t>
            </a:r>
            <a:endParaRPr lang="en-US" sz="4800" dirty="0"/>
          </a:p>
        </p:txBody>
      </p:sp>
      <p:sp>
        <p:nvSpPr>
          <p:cNvPr id="3" name="Text 0"/>
          <p:cNvSpPr/>
          <p:nvPr>
            <p:ph idx="101" type="body" hasCustomPrompt="1"/>
          </p:nvPr>
        </p:nvSpPr>
        <p:spPr>
          <a:xfrm>
            <a:off x="822960" y="3383280"/>
            <a:ext cx="7315200" cy="1097280"/>
          </a:xfrm>
          <a:prstGeom prst="rect">
            <a:avLst/>
          </a:prstGeom>
          <a:noFill/>
          <a:ln/>
        </p:spPr>
        <p:txBody>
          <a:bodyPr wrap="square" lIns="0" tIns="0" rIns="0" bIns="0" rtlCol="0" anchor="t"/>
          <a:lstStyle/>
          <a:p>
            <a:pPr indent="0" marL="0">
              <a:buNone/>
            </a:pPr>
            <a:r>
              <a:rPr lang="en-US" sz="2200" dirty="0">
                <a:solidFill>
                  <a:schemeClr val="bg1"/>
                </a:solidFill>
              </a:rPr>
              <a:t>We check what a company says against what was true on the day it said it.</a:t>
            </a:r>
            <a:endParaRPr lang="en-US" sz="2200" dirty="0"/>
          </a:p>
        </p:txBody>
      </p:sp>
      <p:sp>
        <p:nvSpPr>
          <p:cNvPr id="4" name="Team line"/>
          <p:cNvSpPr txBox="1"/>
          <p:nvPr/>
        </p:nvSpPr>
        <p:spPr>
          <a:xfrm>
            <a:off x="822960" y="5943600"/>
            <a:ext cx="8229600" cy="365760"/>
          </a:xfrm>
          <a:prstGeom prst="rect">
            <a:avLst/>
          </a:prstGeom>
          <a:noFill/>
          <a:ln/>
        </p:spPr>
        <p:txBody>
          <a:bodyPr wrap="square" lIns="0" tIns="0" rIns="0" bIns="0" rtlCol="0" anchor="t"/>
          <a:lstStyle/>
          <a:p>
            <a:pPr indent="0" marL="0">
              <a:buNone/>
            </a:pPr>
            <a:r>
              <a:rPr lang="en-US" sz="1600" dirty="0">
                <a:solidFill>
                  <a:schemeClr val="bg1"/>
                </a:solidFill>
              </a:rPr>
              <a:t>Git Happens  ·  QA DNA, Hype or Truth  ·  29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43032" cy="731520"/>
          </a:xfrm>
          <a:prstGeom prst="rect">
            <a:avLst/>
          </a:prstGeom>
          <a:noFill/>
          <a:ln/>
        </p:spPr>
        <p:txBody>
          <a:bodyPr wrap="square" lIns="0" tIns="0" rIns="0" bIns="0" rtlCol="0" anchor="t"/>
          <a:lstStyle/>
          <a:p>
            <a:pPr indent="0" marL="0">
              <a:buNone/>
            </a:pPr>
            <a:r>
              <a:rPr lang="en-US" sz="3000" b="1" dirty="0">
                <a:solidFill>
                  <a:schemeClr val="tx1"/>
                </a:solidFill>
              </a:rPr>
              <a:t>Facts change. The sentences about them don't.</a:t>
            </a:r>
            <a:endParaRPr lang="en-US" sz="3000" dirty="0"/>
          </a:p>
        </p:txBody>
      </p:sp>
      <p:sp>
        <p:nvSpPr>
          <p:cNvPr id="3" name="Intro"/>
          <p:cNvSpPr txBox="1"/>
          <p:nvPr/>
        </p:nvSpPr>
        <p:spPr>
          <a:xfrm>
            <a:off x="822960" y="1417320"/>
            <a:ext cx="9601200" cy="914400"/>
          </a:xfrm>
          <a:prstGeom prst="rect">
            <a:avLst/>
          </a:prstGeom>
          <a:noFill/>
          <a:ln/>
        </p:spPr>
        <p:txBody>
          <a:bodyPr wrap="square" lIns="0" tIns="0" rIns="0" bIns="0" rtlCol="0" anchor="t"/>
          <a:lstStyle/>
          <a:p>
            <a:pPr indent="0" marL="0">
              <a:buNone/>
            </a:pPr>
            <a:r>
              <a:rPr lang="en-US" sz="1800" dirty="0">
                <a:solidFill>
                  <a:schemeClr val="tx2"/>
                </a:solidFill>
              </a:rPr>
              <a:t>Three things that changed at Hooly this year, the fictional company in the challenge. Each old sentence stays on a web page, in a help article or in a chatbot's answer until someone notices.</a:t>
            </a:r>
            <a:endParaRPr lang="en-US" sz="1800" dirty="0"/>
          </a:p>
        </p:txBody>
      </p:sp>
      <p:graphicFrame>
        <p:nvGraphicFramePr>
          <p:cNvPr id="3" name="Changes table"/>
          <p:cNvGraphicFramePr>
            <a:graphicFrameLocks noGrp="1"/>
          </p:cNvGraphicFramePr>
          <p:nvPr>
            <p:extLst>
              <p:ext uri="{D42A27DB-BD31-4B8C-83A1-F6EECF244321}">
                <p14:modId xmlns:p14="http://schemas.microsoft.com/office/powerpoint/2010/main" val="1579011935"/>
              </p:ext>
            </p:extLst>
          </p:nvPr>
        </p:nvGraphicFramePr>
        <p:xfrm>
          <a:off x="822960" y="2651760"/>
          <a:ext cx="10543032" cy="914400"/>
        </p:xfrm>
        <a:graphic>
          <a:graphicData uri="http://schemas.openxmlformats.org/drawingml/2006/table">
            <a:tbl>
              <a:tblPr/>
              <a:tblGrid>
                <a:gridCol w="4206240"/>
                <a:gridCol w="3154680"/>
                <a:gridCol w="3182112"/>
              </a:tblGrid>
              <a:tr h="566928">
                <a:tc>
                  <a:txBody>
                    <a:bodyPr/>
                    <a:lstStyle/>
                    <a:p>
                      <a:pPr algn="l" indent="0" marL="0">
                        <a:buNone/>
                      </a:pPr>
                      <a:r>
                        <a:rPr lang="en-US" sz="1400" b="1" dirty="0">
                          <a:solidFill>
                            <a:schemeClr val="tx2"/>
                          </a:solidFill>
                          <a:latin typeface="Calibri" pitchFamily="34" charset="0"/>
                          <a:ea typeface="Calibri" pitchFamily="34" charset="-122"/>
                          <a:cs typeface="Calibri" pitchFamily="34" charset="-120"/>
                        </a:rPr>
                        <a:t>What</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c>
                  <a:txBody>
                    <a:bodyPr/>
                    <a:lstStyle/>
                    <a:p>
                      <a:pPr algn="l" indent="0" marL="0">
                        <a:buNone/>
                      </a:pPr>
                      <a:r>
                        <a:rPr lang="en-US" sz="1400" b="1" dirty="0">
                          <a:solidFill>
                            <a:schemeClr val="tx2"/>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c>
                  <a:txBody>
                    <a:bodyPr/>
                    <a:lstStyle/>
                    <a:p>
                      <a:pPr algn="l" indent="0" marL="0">
                        <a:buNone/>
                      </a:pPr>
                      <a:r>
                        <a:rPr lang="en-US" sz="1400" b="1" dirty="0">
                          <a:solidFill>
                            <a:schemeClr val="tx2"/>
                          </a:solidFill>
                          <a:latin typeface="Calibri" pitchFamily="34" charset="0"/>
                          <a:ea typeface="Calibri" pitchFamily="34" charset="-122"/>
                          <a:cs typeface="Calibri" pitchFamily="34" charset="-120"/>
                        </a:rPr>
                        <a:t>After</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r>
              <a:tr h="566928">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Hooly Gmail, price per user</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€4 a month (January)</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€5 a month (June)</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566928">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Hooly Maps Day, the event date</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planned for 9 June</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held on 23 June</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566928">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Hooly Maps, countries covered</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68 (August)</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74 (October)</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5" name="Hand line"/>
          <p:cNvSpPr txBox="1"/>
          <p:nvPr/>
        </p:nvSpPr>
        <p:spPr>
          <a:xfrm>
            <a:off x="822960" y="5394960"/>
            <a:ext cx="9601200" cy="457200"/>
          </a:xfrm>
          <a:prstGeom prst="rect">
            <a:avLst/>
          </a:prstGeom>
          <a:noFill/>
          <a:ln/>
        </p:spPr>
        <p:txBody>
          <a:bodyPr wrap="square" lIns="0" tIns="0" rIns="0" bIns="0" rtlCol="0" anchor="t"/>
          <a:lstStyle/>
          <a:p>
            <a:pPr indent="0" marL="0">
              <a:buNone/>
            </a:pPr>
            <a:r>
              <a:rPr lang="en-US" sz="1800" b="1" dirty="0">
                <a:solidFill>
                  <a:schemeClr val="tx1"/>
                </a:solidFill>
              </a:rPr>
              <a:t>Today people catch these by hand, one sentence at a time.</a:t>
            </a:r>
            <a:endParaRPr lang="en-US" sz="1800" dirty="0"/>
          </a:p>
        </p:txBody>
      </p:sp>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43032" cy="731520"/>
          </a:xfrm>
          <a:prstGeom prst="rect">
            <a:avLst/>
          </a:prstGeom>
          <a:noFill/>
          <a:ln/>
        </p:spPr>
        <p:txBody>
          <a:bodyPr wrap="square" lIns="0" tIns="0" rIns="0" bIns="0" rtlCol="0" anchor="t"/>
          <a:lstStyle/>
          <a:p>
            <a:pPr indent="0" marL="0">
              <a:buNone/>
            </a:pPr>
            <a:r>
              <a:rPr lang="en-US" sz="3000" b="1" dirty="0">
                <a:solidFill>
                  <a:schemeClr val="tx1"/>
                </a:solidFill>
              </a:rPr>
              <a:t>The same sentence, true in August and false in January</a:t>
            </a:r>
            <a:endParaRPr lang="en-US" sz="3000" dirty="0"/>
          </a:p>
        </p:txBody>
      </p:sp>
      <p:sp>
        <p:nvSpPr>
          <p:cNvPr id="3" name="Sources intro"/>
          <p:cNvSpPr txBox="1"/>
          <p:nvPr/>
        </p:nvSpPr>
        <p:spPr>
          <a:xfrm>
            <a:off x="822960" y="1417320"/>
            <a:ext cx="7315200" cy="365760"/>
          </a:xfrm>
          <a:prstGeom prst="rect">
            <a:avLst/>
          </a:prstGeom>
          <a:noFill/>
          <a:ln/>
        </p:spPr>
        <p:txBody>
          <a:bodyPr wrap="square" lIns="0" tIns="0" rIns="0" bIns="0" rtlCol="0" anchor="t"/>
          <a:lstStyle/>
          <a:p>
            <a:pPr indent="0" marL="0">
              <a:buNone/>
            </a:pPr>
            <a:r>
              <a:rPr lang="en-US" sz="1600" dirty="0">
                <a:solidFill>
                  <a:schemeClr val="tx2"/>
                </a:solidFill>
              </a:rPr>
              <a:t>What our sources said about Hooly Cloud's regions:</a:t>
            </a:r>
            <a:endParaRPr lang="en-US" sz="1600" dirty="0"/>
          </a:p>
        </p:txBody>
      </p:sp>
      <p:graphicFrame>
        <p:nvGraphicFramePr>
          <p:cNvPr id="4" name="Sources table"/>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554480"/>
                <a:gridCol w="7891272"/>
                <a:gridCol w="1097280"/>
              </a:tblGrid>
              <a:tr h="420624">
                <a:tc>
                  <a:txBody>
                    <a:bodyPr/>
                    <a:lstStyle/>
                    <a:p>
                      <a:pPr algn="l" indent="0" marL="0">
                        <a:buNone/>
                      </a:pPr>
                      <a:r>
                        <a:rPr lang="en-US" sz="1400" b="1" dirty="0">
                          <a:solidFill>
                            <a:schemeClr val="tx2"/>
                          </a:solidFill>
                          <a:latin typeface="Calibri" pitchFamily="34" charset="0"/>
                          <a:ea typeface="Calibri" pitchFamily="34" charset="-122"/>
                          <a:cs typeface="Calibri" pitchFamily="34" charset="-120"/>
                        </a:rPr>
                        <a:t>Date</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c>
                  <a:txBody>
                    <a:bodyPr/>
                    <a:lstStyle/>
                    <a:p>
                      <a:pPr algn="l" indent="0" marL="0">
                        <a:buNone/>
                      </a:pPr>
                      <a:r>
                        <a:rPr lang="en-US" sz="1400" b="1" dirty="0">
                          <a:solidFill>
                            <a:schemeClr val="tx2"/>
                          </a:solidFill>
                          <a:latin typeface="Calibri" pitchFamily="34" charset="0"/>
                          <a:ea typeface="Calibri" pitchFamily="34" charset="-122"/>
                          <a:cs typeface="Calibri" pitchFamily="34" charset="-120"/>
                        </a:rPr>
                        <a:t>Source sentence</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c>
                  <a:txBody>
                    <a:bodyPr/>
                    <a:lstStyle/>
                    <a:p>
                      <a:pPr algn="r" indent="0" marL="0">
                        <a:buNone/>
                      </a:pPr>
                      <a:r>
                        <a:rPr lang="en-US" sz="1400" b="1" dirty="0">
                          <a:solidFill>
                            <a:schemeClr val="tx2"/>
                          </a:solidFill>
                          <a:latin typeface="Calibri" pitchFamily="34" charset="0"/>
                          <a:ea typeface="Calibri" pitchFamily="34" charset="-122"/>
                          <a:cs typeface="Calibri" pitchFamily="34" charset="-120"/>
                        </a:rPr>
                        <a:t>Regions</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4 Nov 2025</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At opening, Hooly Cloud spans 3 regions, split into 9 zones for failover.</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12 Jan 2026</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Hooly Cloud has been open since November 2025 and covers 3 regions so far.</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2 Mar 2026</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With the two additions, Hooly Cloud counts 5 regions.</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15 Jul 2026</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That brings Hooly Cloud to 8 regions.</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10 Aug 2026</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Projects can be placed in any of 8 regions on Hooly Cloud.</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5" name="Verdict rule"/>
          <p:cNvSpPr/>
          <p:nvPr/>
        </p:nvSpPr>
        <p:spPr>
          <a:xfrm>
            <a:off x="822960" y="4617720"/>
            <a:ext cx="10543032" cy="0"/>
          </a:xfrm>
          <a:prstGeom prst="line">
            <a:avLst/>
          </a:prstGeom>
          <a:noFill/>
          <a:ln w="12700">
            <a:solidFill>
              <a:schemeClr val="accent2"/>
            </a:solidFill>
            <a:prstDash val="solid"/>
          </a:ln>
        </p:spPr>
      </p:sp>
      <p:sp>
        <p:nvSpPr>
          <p:cNvPr id="6" name="Verdicts"/>
          <p:cNvSpPr txBox="1"/>
          <p:nvPr/>
        </p:nvSpPr>
        <p:spPr>
          <a:xfrm>
            <a:off x="822960" y="4800600"/>
            <a:ext cx="9601200" cy="8229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“Hooly Cloud covers 8 regions.”</a:t>
            </a:r>
            <a:endParaRPr lang="en-US" sz="1800" dirty="0"/>
          </a:p>
          <a:p>
            <a:pPr indent="0" marL="0">
              <a:spcAft>
                <a:spcPts val="400"/>
              </a:spcAft>
              <a:buNone/>
            </a:pPr>
            <a:r>
              <a:rPr lang="en-US" sz="1800" dirty="0">
                <a:solidFill>
                  <a:schemeClr val="tx2"/>
                </a:solidFill>
              </a:rPr>
              <a:t>Said on 12 January 2026: false, 65% sure. Said on 10 August 2026: true, 95% sure.</a:t>
            </a:r>
            <a:endParaRPr lang="en-US" sz="1800" dirty="0"/>
          </a:p>
        </p:txBody>
      </p:sp>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43032" cy="731520"/>
          </a:xfrm>
          <a:prstGeom prst="rect">
            <a:avLst/>
          </a:prstGeom>
          <a:noFill/>
          <a:ln/>
        </p:spPr>
        <p:txBody>
          <a:bodyPr wrap="square" lIns="0" tIns="0" rIns="0" bIns="0" rtlCol="0" anchor="t"/>
          <a:lstStyle/>
          <a:p>
            <a:pPr indent="0" marL="0">
              <a:buNone/>
            </a:pPr>
            <a:r>
              <a:rPr lang="en-US" sz="3000" b="1" dirty="0">
                <a:solidFill>
                  <a:schemeClr val="tx1"/>
                </a:solidFill>
              </a:rPr>
              <a:t>It checks each sentence on its own date</a:t>
            </a:r>
            <a:endParaRPr lang="en-US" sz="3000" dirty="0"/>
          </a:p>
        </p:txBody>
      </p:sp>
      <p:sp>
        <p:nvSpPr>
          <p:cNvPr id="3" name="Step number 1"/>
          <p:cNvSpPr txBox="1"/>
          <p:nvPr/>
        </p:nvSpPr>
        <p:spPr>
          <a:xfrm>
            <a:off x="822960" y="160020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1</a:t>
            </a:r>
            <a:endParaRPr lang="en-US" sz="2400" dirty="0"/>
          </a:p>
        </p:txBody>
      </p:sp>
      <p:sp>
        <p:nvSpPr>
          <p:cNvPr id="4" name="Step title 1"/>
          <p:cNvSpPr txBox="1"/>
          <p:nvPr/>
        </p:nvSpPr>
        <p:spPr>
          <a:xfrm>
            <a:off x="1463040" y="1600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Read the sentence</a:t>
            </a:r>
            <a:endParaRPr lang="en-US" sz="2200" dirty="0"/>
          </a:p>
        </p:txBody>
      </p:sp>
      <p:sp>
        <p:nvSpPr>
          <p:cNvPr id="5" name="Step text 1"/>
          <p:cNvSpPr txBox="1"/>
          <p:nvPr/>
        </p:nvSpPr>
        <p:spPr>
          <a:xfrm>
            <a:off x="4480560" y="1636776"/>
            <a:ext cx="6858000" cy="822960"/>
          </a:xfrm>
          <a:prstGeom prst="rect">
            <a:avLst/>
          </a:prstGeom>
          <a:noFill/>
          <a:ln/>
        </p:spPr>
        <p:txBody>
          <a:bodyPr wrap="square" lIns="0" tIns="0" rIns="0" bIns="0" rtlCol="0" anchor="t"/>
          <a:lstStyle/>
          <a:p>
            <a:pPr indent="0" marL="0">
              <a:buNone/>
            </a:pPr>
            <a:r>
              <a:rPr lang="en-US" sz="1800" dirty="0">
                <a:solidFill>
                  <a:schemeClr val="tx2"/>
                </a:solidFill>
              </a:rPr>
              <a:t>Work out what it claims: a price, a date, a count or a name, and what it is about.</a:t>
            </a:r>
            <a:endParaRPr lang="en-US" sz="1800" dirty="0"/>
          </a:p>
        </p:txBody>
      </p:sp>
      <p:sp>
        <p:nvSpPr>
          <p:cNvPr id="6" name="Step rule 1"/>
          <p:cNvSpPr/>
          <p:nvPr/>
        </p:nvSpPr>
        <p:spPr>
          <a:xfrm>
            <a:off x="822960" y="2514600"/>
            <a:ext cx="10543032" cy="0"/>
          </a:xfrm>
          <a:prstGeom prst="line">
            <a:avLst/>
          </a:prstGeom>
          <a:noFill/>
          <a:ln w="12700">
            <a:solidFill>
              <a:schemeClr val="accent2"/>
            </a:solidFill>
            <a:prstDash val="solid"/>
          </a:ln>
        </p:spPr>
      </p:sp>
      <p:sp>
        <p:nvSpPr>
          <p:cNvPr id="7" name="Step number 2"/>
          <p:cNvSpPr txBox="1"/>
          <p:nvPr/>
        </p:nvSpPr>
        <p:spPr>
          <a:xfrm>
            <a:off x="822960" y="274320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2</a:t>
            </a:r>
            <a:endParaRPr lang="en-US" sz="2400" dirty="0"/>
          </a:p>
        </p:txBody>
      </p:sp>
      <p:sp>
        <p:nvSpPr>
          <p:cNvPr id="8" name="Step title 2"/>
          <p:cNvSpPr txBox="1"/>
          <p:nvPr/>
        </p:nvSpPr>
        <p:spPr>
          <a:xfrm>
            <a:off x="146304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Look it up</a:t>
            </a:r>
            <a:endParaRPr lang="en-US" sz="2200" dirty="0"/>
          </a:p>
        </p:txBody>
      </p:sp>
      <p:sp>
        <p:nvSpPr>
          <p:cNvPr id="9" name="Step text 2"/>
          <p:cNvSpPr txBox="1"/>
          <p:nvPr/>
        </p:nvSpPr>
        <p:spPr>
          <a:xfrm>
            <a:off x="4480560" y="2779776"/>
            <a:ext cx="6858000" cy="822960"/>
          </a:xfrm>
          <a:prstGeom prst="rect">
            <a:avLst/>
          </a:prstGeom>
          <a:noFill/>
          <a:ln/>
        </p:spPr>
        <p:txBody>
          <a:bodyPr wrap="square" lIns="0" tIns="0" rIns="0" bIns="0" rtlCol="0" anchor="t"/>
          <a:lstStyle/>
          <a:p>
            <a:pPr indent="0" marL="0">
              <a:buNone/>
            </a:pPr>
            <a:r>
              <a:rPr lang="en-US" sz="1800" dirty="0">
                <a:solidFill>
                  <a:schemeClr val="tx2"/>
                </a:solidFill>
              </a:rPr>
              <a:t>Find what the sources said about that fact around the sentence's date.</a:t>
            </a:r>
            <a:endParaRPr lang="en-US" sz="1800" dirty="0"/>
          </a:p>
        </p:txBody>
      </p:sp>
      <p:sp>
        <p:nvSpPr>
          <p:cNvPr id="10" name="Step rule 2"/>
          <p:cNvSpPr/>
          <p:nvPr/>
        </p:nvSpPr>
        <p:spPr>
          <a:xfrm>
            <a:off x="822960" y="3657600"/>
            <a:ext cx="10543032" cy="0"/>
          </a:xfrm>
          <a:prstGeom prst="line">
            <a:avLst/>
          </a:prstGeom>
          <a:noFill/>
          <a:ln w="12700">
            <a:solidFill>
              <a:schemeClr val="accent2"/>
            </a:solidFill>
            <a:prstDash val="solid"/>
          </a:ln>
        </p:spPr>
      </p:sp>
      <p:sp>
        <p:nvSpPr>
          <p:cNvPr id="11" name="Step number 3"/>
          <p:cNvSpPr txBox="1"/>
          <p:nvPr/>
        </p:nvSpPr>
        <p:spPr>
          <a:xfrm>
            <a:off x="822960" y="388620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3</a:t>
            </a:r>
            <a:endParaRPr lang="en-US" sz="2400" dirty="0"/>
          </a:p>
        </p:txBody>
      </p:sp>
      <p:sp>
        <p:nvSpPr>
          <p:cNvPr id="12" name="Step title 3"/>
          <p:cNvSpPr txBox="1"/>
          <p:nvPr/>
        </p:nvSpPr>
        <p:spPr>
          <a:xfrm>
            <a:off x="1463040" y="3886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Answer</a:t>
            </a:r>
            <a:endParaRPr lang="en-US" sz="2200" dirty="0"/>
          </a:p>
        </p:txBody>
      </p:sp>
      <p:sp>
        <p:nvSpPr>
          <p:cNvPr id="13" name="Step text 3"/>
          <p:cNvSpPr txBox="1"/>
          <p:nvPr/>
        </p:nvSpPr>
        <p:spPr>
          <a:xfrm>
            <a:off x="4480560" y="3922776"/>
            <a:ext cx="6858000" cy="822960"/>
          </a:xfrm>
          <a:prstGeom prst="rect">
            <a:avLst/>
          </a:prstGeom>
          <a:noFill/>
          <a:ln/>
        </p:spPr>
        <p:txBody>
          <a:bodyPr wrap="square" lIns="0" tIns="0" rIns="0" bIns="0" rtlCol="0" anchor="t"/>
          <a:lstStyle/>
          <a:p>
            <a:pPr indent="0" marL="0">
              <a:buNone/>
            </a:pPr>
            <a:r>
              <a:rPr lang="en-US" sz="1800" dirty="0">
                <a:solidFill>
                  <a:schemeClr val="tx2"/>
                </a:solidFill>
              </a:rPr>
              <a:t>True or false, how sure it is, and the source sentences behind the answer.</a:t>
            </a:r>
            <a:endParaRPr lang="en-US" sz="1800" dirty="0"/>
          </a:p>
        </p:txBody>
      </p:sp>
      <p:sp>
        <p:nvSpPr>
          <p:cNvPr id="14" name="No LLM line"/>
          <p:cNvSpPr txBox="1"/>
          <p:nvPr/>
        </p:nvSpPr>
        <p:spPr>
          <a:xfrm>
            <a:off x="822960" y="5120640"/>
            <a:ext cx="9601200" cy="548640"/>
          </a:xfrm>
          <a:prstGeom prst="rect">
            <a:avLst/>
          </a:prstGeom>
          <a:noFill/>
          <a:ln/>
        </p:spPr>
        <p:txBody>
          <a:bodyPr wrap="square" lIns="0" tIns="0" rIns="0" bIns="0" rtlCol="0" anchor="t"/>
          <a:lstStyle/>
          <a:p>
            <a:pPr indent="0" marL="0">
              <a:buNone/>
            </a:pPr>
            <a:r>
              <a:rPr lang="en-US" sz="1800" b="1" dirty="0">
                <a:solidFill>
                  <a:schemeClr val="tx1"/>
                </a:solidFill>
              </a:rPr>
              <a:t>There is no language model in it. Every answer comes from dated sources, so it has nothing to make up.</a:t>
            </a:r>
            <a:endParaRPr lang="en-US" sz="1800" dirty="0"/>
          </a:p>
        </p:txBody>
      </p:sp>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43032" cy="731520"/>
          </a:xfrm>
          <a:prstGeom prst="rect">
            <a:avLst/>
          </a:prstGeom>
          <a:noFill/>
          <a:ln/>
        </p:spPr>
        <p:txBody>
          <a:bodyPr wrap="square" lIns="0" tIns="0" rIns="0" bIns="0" rtlCol="0" anchor="t"/>
          <a:lstStyle/>
          <a:p>
            <a:pPr indent="0" marL="0">
              <a:buNone/>
            </a:pPr>
            <a:r>
              <a:rPr lang="en-US" sz="3000" b="1" dirty="0">
                <a:solidFill>
                  <a:schemeClr val="tx1"/>
                </a:solidFill>
              </a:rPr>
              <a:t>It does better than guessing, and knows how sure it is</a:t>
            </a:r>
            <a:endParaRPr lang="en-US" sz="3000" dirty="0"/>
          </a:p>
        </p:txBody>
      </p:sp>
      <p:sp>
        <p:nvSpPr>
          <p:cNvPr id="3" name="Method"/>
          <p:cNvSpPr txBox="1"/>
          <p:nvPr/>
        </p:nvSpPr>
        <p:spPr>
          <a:xfrm>
            <a:off x="822960" y="1417320"/>
            <a:ext cx="9601200" cy="365760"/>
          </a:xfrm>
          <a:prstGeom prst="rect">
            <a:avLst/>
          </a:prstGeom>
          <a:noFill/>
          <a:ln/>
        </p:spPr>
        <p:txBody>
          <a:bodyPr wrap="square" lIns="0" tIns="0" rIns="0" bIns="0" rtlCol="0" anchor="t"/>
          <a:lstStyle/>
          <a:p>
            <a:pPr indent="0" marL="0">
              <a:buNone/>
            </a:pPr>
            <a:r>
              <a:rPr lang="en-US" sz="1600" dirty="0">
                <a:solidFill>
                  <a:schemeClr val="tx2"/>
                </a:solidFill>
              </a:rPr>
              <a:t>Tested on 1,897 practice sentences, each one checked by a model that had never seen it.</a:t>
            </a:r>
            <a:endParaRPr lang="en-US" sz="1600" dirty="0"/>
          </a:p>
        </p:txBody>
      </p:sp>
      <p:graphicFrame>
        <p:nvGraphicFramePr>
          <p:cNvPr id="6" name="Results table"/>
          <p:cNvGraphicFramePr>
            <a:graphicFrameLocks noGrp="1"/>
          </p:cNvGraphicFramePr>
          <p:nvPr>
            <p:extLst>
              <p:ext uri="{D42A27DB-BD31-4B8C-83A1-F6EECF244321}">
                <p14:modId xmlns:p14="http://schemas.microsoft.com/office/powerpoint/2010/main" val="1579011935"/>
              </p:ext>
            </p:extLst>
          </p:nvPr>
        </p:nvGraphicFramePr>
        <p:xfrm>
          <a:off x="822960" y="1965960"/>
          <a:ext cx="10543032" cy="914400"/>
        </p:xfrm>
        <a:graphic>
          <a:graphicData uri="http://schemas.openxmlformats.org/drawingml/2006/table">
            <a:tbl>
              <a:tblPr/>
              <a:tblGrid>
                <a:gridCol w="4873752"/>
                <a:gridCol w="2743200"/>
                <a:gridCol w="2926080"/>
              </a:tblGrid>
              <a:tr h="566928">
                <a:tc>
                  <a:txBody>
                    <a:bodyPr/>
                    <a:lstStyle/>
                    <a:p>
                      <a:pPr algn="l" indent="0" marL="0">
                        <a:buNone/>
                      </a:pP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c>
                  <a:txBody>
                    <a:bodyPr/>
                    <a:lstStyle/>
                    <a:p>
                      <a:pPr algn="r" indent="0" marL="0">
                        <a:buNone/>
                      </a:pPr>
                      <a:r>
                        <a:rPr lang="en-US" sz="1400" b="1" dirty="0">
                          <a:solidFill>
                            <a:schemeClr val="tx2"/>
                          </a:solidFill>
                          <a:latin typeface="Calibri" pitchFamily="34" charset="0"/>
                          <a:ea typeface="Calibri" pitchFamily="34" charset="-122"/>
                          <a:cs typeface="Calibri" pitchFamily="34" charset="-120"/>
                        </a:rPr>
                        <a:t>Our engine</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c>
                  <a:txBody>
                    <a:bodyPr/>
                    <a:lstStyle/>
                    <a:p>
                      <a:pPr algn="r" indent="0" marL="0">
                        <a:buNone/>
                      </a:pPr>
                      <a:r>
                        <a:rPr lang="en-US" sz="1400" b="1" dirty="0">
                          <a:solidFill>
                            <a:schemeClr val="tx2"/>
                          </a:solidFill>
                          <a:latin typeface="Calibri" pitchFamily="34" charset="0"/>
                          <a:ea typeface="Calibri" pitchFamily="34" charset="-122"/>
                          <a:cs typeface="Calibri" pitchFamily="34" charset="-120"/>
                        </a:rPr>
                        <a:t>Saying “true” every time</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r>
              <a:tr h="566928">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Sentences labelled right</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800" b="1" dirty="0">
                          <a:solidFill>
                            <a:schemeClr val="accent1"/>
                          </a:solidFill>
                          <a:latin typeface="Calibri" pitchFamily="34" charset="0"/>
                          <a:ea typeface="Calibri" pitchFamily="34" charset="-122"/>
                          <a:cs typeface="Calibri" pitchFamily="34" charset="-120"/>
                        </a:rPr>
                        <a:t>87.0%</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83.3%</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566928">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False sentences found</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800" b="1" dirty="0">
                          <a:solidFill>
                            <a:schemeClr val="accent1"/>
                          </a:solidFill>
                          <a:latin typeface="Calibri" pitchFamily="34" charset="0"/>
                          <a:ea typeface="Calibri" pitchFamily="34" charset="-122"/>
                          <a:cs typeface="Calibri" pitchFamily="34" charset="-120"/>
                        </a:rPr>
                        <a:t>118 of 277</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0 of 277</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566928">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Right when it says it is 90–100% sure</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b="1" dirty="0">
                          <a:solidFill>
                            <a:schemeClr val="accent1"/>
                          </a:solidFill>
                          <a:latin typeface="Calibri" pitchFamily="34" charset="0"/>
                          <a:ea typeface="Calibri" pitchFamily="34" charset="-122"/>
                          <a:cs typeface="Calibri" pitchFamily="34" charset="-120"/>
                        </a:rPr>
                        <a:t>96%</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5" name="Weakness rule"/>
          <p:cNvSpPr/>
          <p:nvPr/>
        </p:nvSpPr>
        <p:spPr>
          <a:xfrm>
            <a:off x="822960" y="4617720"/>
            <a:ext cx="10543032" cy="0"/>
          </a:xfrm>
          <a:prstGeom prst="line">
            <a:avLst/>
          </a:prstGeom>
          <a:noFill/>
          <a:ln w="12700">
            <a:solidFill>
              <a:schemeClr val="accent2"/>
            </a:solidFill>
            <a:prstDash val="solid"/>
          </a:ln>
        </p:spPr>
      </p:sp>
      <p:sp>
        <p:nvSpPr>
          <p:cNvPr id="6" name="Weakness"/>
          <p:cNvSpPr txBox="1"/>
          <p:nvPr/>
        </p:nvSpPr>
        <p:spPr>
          <a:xfrm>
            <a:off x="822960" y="4800600"/>
            <a:ext cx="9875520" cy="822960"/>
          </a:xfrm>
          <a:prstGeom prst="rect">
            <a:avLst/>
          </a:prstGeom>
          <a:noFill/>
          <a:ln/>
        </p:spPr>
        <p:txBody>
          <a:bodyPr wrap="square" lIns="0" tIns="0" rIns="0" bIns="0" rtlCol="0" anchor="t"/>
          <a:lstStyle/>
          <a:p>
            <a:pPr indent="0" marL="0">
              <a:buNone/>
            </a:pPr>
            <a:r>
              <a:rPr lang="en-US" sz="1700" b="1" dirty="0">
                <a:solidFill>
                  <a:schemeClr val="tx1"/>
                </a:solidFill>
              </a:rPr>
              <a:t>Where it is weaker: </a:t>
            </a:r>
            <a:pPr indent="0" marL="0">
              <a:buNone/>
            </a:pPr>
            <a:r>
              <a:rPr lang="en-US" sz="1700" dirty="0">
                <a:solidFill>
                  <a:schemeClr val="tx2"/>
                </a:solidFill>
              </a:rPr>
              <a:t>products, people and events it has never read about. On those it got 79.5% right, below the 82.5% you'd get by saying “true”. We measured it, and it's the next thing we're fixing.</a:t>
            </a:r>
            <a:endParaRPr lang="en-US" sz="1700" dirty="0"/>
          </a:p>
        </p:txBody>
      </p:sp>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43032" cy="731520"/>
          </a:xfrm>
          <a:prstGeom prst="rect">
            <a:avLst/>
          </a:prstGeom>
          <a:noFill/>
          <a:ln/>
        </p:spPr>
        <p:txBody>
          <a:bodyPr wrap="square" lIns="0" tIns="0" rIns="0" bIns="0" rtlCol="0" anchor="t"/>
          <a:lstStyle/>
          <a:p>
            <a:pPr indent="0" marL="0">
              <a:buNone/>
            </a:pPr>
            <a:r>
              <a:rPr lang="en-US" sz="3000" b="1" dirty="0">
                <a:solidFill>
                  <a:schemeClr val="tx1"/>
                </a:solidFill>
              </a:rPr>
              <a:t>It also writes 1,000 new facts</a:t>
            </a:r>
            <a:endParaRPr lang="en-US" sz="3000" dirty="0"/>
          </a:p>
        </p:txBody>
      </p:sp>
      <p:sp>
        <p:nvSpPr>
          <p:cNvPr id="3" name="Claims intro"/>
          <p:cNvSpPr txBox="1"/>
          <p:nvPr/>
        </p:nvSpPr>
        <p:spPr>
          <a:xfrm>
            <a:off x="822960" y="1417320"/>
            <a:ext cx="7315200" cy="365760"/>
          </a:xfrm>
          <a:prstGeom prst="rect">
            <a:avLst/>
          </a:prstGeom>
          <a:noFill/>
          <a:ln/>
        </p:spPr>
        <p:txBody>
          <a:bodyPr wrap="square" lIns="0" tIns="0" rIns="0" bIns="0" rtlCol="0" anchor="t"/>
          <a:lstStyle/>
          <a:p>
            <a:pPr indent="0" marL="0">
              <a:buNone/>
            </a:pPr>
            <a:r>
              <a:rPr lang="en-US" sz="1600" dirty="0">
                <a:solidFill>
                  <a:schemeClr val="tx2"/>
                </a:solidFill>
              </a:rPr>
              <a:t>Four of them, as it wrote them:</a:t>
            </a:r>
            <a:endParaRPr lang="en-US" sz="1600" dirty="0"/>
          </a:p>
        </p:txBody>
      </p:sp>
      <p:sp>
        <p:nvSpPr>
          <p:cNvPr id="4" name="Claim 1"/>
          <p:cNvSpPr txBox="1"/>
          <p:nvPr/>
        </p:nvSpPr>
        <p:spPr>
          <a:xfrm>
            <a:off x="822960" y="1920240"/>
            <a:ext cx="10543032" cy="457200"/>
          </a:xfrm>
          <a:prstGeom prst="rect">
            <a:avLst/>
          </a:prstGeom>
          <a:noFill/>
          <a:ln/>
        </p:spPr>
        <p:txBody>
          <a:bodyPr wrap="square" lIns="0" tIns="0" rIns="0" bIns="0" rtlCol="0" anchor="ctr"/>
          <a:lstStyle/>
          <a:p>
            <a:pPr indent="0" marL="0">
              <a:buNone/>
            </a:pPr>
            <a:r>
              <a:rPr lang="en-US" sz="1900" dirty="0">
                <a:solidFill>
                  <a:schemeClr val="tx1"/>
                </a:solidFill>
              </a:rPr>
              <a:t>Hooly Pixel 9 units sold went from 640,000 phones to 880,000 phones.</a:t>
            </a:r>
            <a:endParaRPr lang="en-US" sz="1900" dirty="0"/>
          </a:p>
        </p:txBody>
      </p:sp>
      <p:sp>
        <p:nvSpPr>
          <p:cNvPr id="5" name="Claim rule 1"/>
          <p:cNvSpPr/>
          <p:nvPr/>
        </p:nvSpPr>
        <p:spPr>
          <a:xfrm>
            <a:off x="822960" y="2468880"/>
            <a:ext cx="10543032" cy="0"/>
          </a:xfrm>
          <a:prstGeom prst="line">
            <a:avLst/>
          </a:prstGeom>
          <a:noFill/>
          <a:ln w="12700">
            <a:solidFill>
              <a:schemeClr val="accent2"/>
            </a:solidFill>
            <a:prstDash val="solid"/>
          </a:ln>
        </p:spPr>
      </p:sp>
      <p:sp>
        <p:nvSpPr>
          <p:cNvPr id="6" name="Claim 2"/>
          <p:cNvSpPr txBox="1"/>
          <p:nvPr/>
        </p:nvSpPr>
        <p:spPr>
          <a:xfrm>
            <a:off x="822960" y="2560320"/>
            <a:ext cx="10543032" cy="457200"/>
          </a:xfrm>
          <a:prstGeom prst="rect">
            <a:avLst/>
          </a:prstGeom>
          <a:noFill/>
          <a:ln/>
        </p:spPr>
        <p:txBody>
          <a:bodyPr wrap="square" lIns="0" tIns="0" rIns="0" bIns="0" rtlCol="0" anchor="ctr"/>
          <a:lstStyle/>
          <a:p>
            <a:pPr indent="0" marL="0">
              <a:buNone/>
            </a:pPr>
            <a:r>
              <a:rPr lang="en-US" sz="1900" dirty="0">
                <a:solidFill>
                  <a:schemeClr val="tx1"/>
                </a:solidFill>
              </a:rPr>
              <a:t>Hooly Devices had 9 repair centres at the time of Hooly Cloud Next 2026.</a:t>
            </a:r>
            <a:endParaRPr lang="en-US" sz="1900" dirty="0"/>
          </a:p>
        </p:txBody>
      </p:sp>
      <p:sp>
        <p:nvSpPr>
          <p:cNvPr id="7" name="Claim rule 2"/>
          <p:cNvSpPr/>
          <p:nvPr/>
        </p:nvSpPr>
        <p:spPr>
          <a:xfrm>
            <a:off x="822960" y="3108960"/>
            <a:ext cx="10543032" cy="0"/>
          </a:xfrm>
          <a:prstGeom prst="line">
            <a:avLst/>
          </a:prstGeom>
          <a:noFill/>
          <a:ln w="12700">
            <a:solidFill>
              <a:schemeClr val="accent2"/>
            </a:solidFill>
            <a:prstDash val="solid"/>
          </a:ln>
        </p:spPr>
      </p:sp>
      <p:sp>
        <p:nvSpPr>
          <p:cNvPr id="8" name="Claim 3"/>
          <p:cNvSpPr txBox="1"/>
          <p:nvPr/>
        </p:nvSpPr>
        <p:spPr>
          <a:xfrm>
            <a:off x="822960" y="3200400"/>
            <a:ext cx="10543032" cy="457200"/>
          </a:xfrm>
          <a:prstGeom prst="rect">
            <a:avLst/>
          </a:prstGeom>
          <a:noFill/>
          <a:ln/>
        </p:spPr>
        <p:txBody>
          <a:bodyPr wrap="square" lIns="0" tIns="0" rIns="0" bIns="0" rtlCol="0" anchor="ctr"/>
          <a:lstStyle/>
          <a:p>
            <a:pPr indent="0" marL="0">
              <a:buNone/>
            </a:pPr>
            <a:r>
              <a:rPr lang="en-US" sz="1900" dirty="0">
                <a:solidFill>
                  <a:schemeClr val="tx1"/>
                </a:solidFill>
              </a:rPr>
              <a:t>Hooly Search's launch came before Hooly Workspace Enterprise's launch.</a:t>
            </a:r>
            <a:endParaRPr lang="en-US" sz="1900" dirty="0"/>
          </a:p>
        </p:txBody>
      </p:sp>
      <p:sp>
        <p:nvSpPr>
          <p:cNvPr id="9" name="Claim rule 3"/>
          <p:cNvSpPr/>
          <p:nvPr/>
        </p:nvSpPr>
        <p:spPr>
          <a:xfrm>
            <a:off x="822960" y="3749040"/>
            <a:ext cx="10543032" cy="0"/>
          </a:xfrm>
          <a:prstGeom prst="line">
            <a:avLst/>
          </a:prstGeom>
          <a:noFill/>
          <a:ln w="12700">
            <a:solidFill>
              <a:schemeClr val="accent2"/>
            </a:solidFill>
            <a:prstDash val="solid"/>
          </a:ln>
        </p:spPr>
      </p:sp>
      <p:sp>
        <p:nvSpPr>
          <p:cNvPr id="10" name="Claim 4"/>
          <p:cNvSpPr txBox="1"/>
          <p:nvPr/>
        </p:nvSpPr>
        <p:spPr>
          <a:xfrm>
            <a:off x="822960" y="3840480"/>
            <a:ext cx="10543032" cy="457200"/>
          </a:xfrm>
          <a:prstGeom prst="rect">
            <a:avLst/>
          </a:prstGeom>
          <a:noFill/>
          <a:ln/>
        </p:spPr>
        <p:txBody>
          <a:bodyPr wrap="square" lIns="0" tIns="0" rIns="0" bIns="0" rtlCol="0" anchor="ctr"/>
          <a:lstStyle/>
          <a:p>
            <a:pPr indent="0" marL="0">
              <a:buNone/>
            </a:pPr>
            <a:r>
              <a:rPr lang="en-US" sz="1900" dirty="0">
                <a:solidFill>
                  <a:schemeClr val="tx1"/>
                </a:solidFill>
              </a:rPr>
              <a:t>Hooly Maps Day talks went from 14 talks to 22 talks.</a:t>
            </a:r>
            <a:endParaRPr lang="en-US" sz="1900" dirty="0"/>
          </a:p>
        </p:txBody>
      </p:sp>
      <p:sp>
        <p:nvSpPr>
          <p:cNvPr id="11" name="Claim rule 4"/>
          <p:cNvSpPr/>
          <p:nvPr/>
        </p:nvSpPr>
        <p:spPr>
          <a:xfrm>
            <a:off x="822960" y="4389120"/>
            <a:ext cx="10543032" cy="0"/>
          </a:xfrm>
          <a:prstGeom prst="line">
            <a:avLst/>
          </a:prstGeom>
          <a:noFill/>
          <a:ln w="12700">
            <a:solidFill>
              <a:schemeClr val="accent2"/>
            </a:solidFill>
            <a:prstDash val="solid"/>
          </a:ln>
        </p:spPr>
      </p:sp>
      <p:sp>
        <p:nvSpPr>
          <p:cNvPr id="12" name="Checker line"/>
          <p:cNvSpPr txBox="1"/>
          <p:nvPr/>
        </p:nvSpPr>
        <p:spPr>
          <a:xfrm>
            <a:off x="822960" y="4663440"/>
            <a:ext cx="9875520" cy="1005840"/>
          </a:xfrm>
          <a:prstGeom prst="rect">
            <a:avLst/>
          </a:prstGeom>
          <a:noFill/>
          <a:ln/>
        </p:spPr>
        <p:txBody>
          <a:bodyPr wrap="square" lIns="0" tIns="0" rIns="0" bIns="0" rtlCol="0" anchor="t"/>
          <a:lstStyle/>
          <a:p>
            <a:pPr indent="0" marL="0">
              <a:buNone/>
            </a:pPr>
            <a:r>
              <a:rPr lang="en-US" sz="1700" dirty="0">
                <a:solidFill>
                  <a:schemeClr val="tx2"/>
                </a:solidFill>
              </a:rPr>
              <a:t>Each one is backed by source sentences. To check they follow the challenge's rules, we wrote a second checker from the rulebook alone, without looking at our own code. It found no rule broken in any of the 1,000.</a:t>
            </a:r>
            <a:endParaRPr lang="en-US" sz="1700" dirty="0"/>
          </a:p>
        </p:txBody>
      </p:sp>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548640"/>
            <a:ext cx="10543032" cy="731520"/>
          </a:xfrm>
          <a:prstGeom prst="rect">
            <a:avLst/>
          </a:prstGeom>
          <a:noFill/>
          <a:ln/>
        </p:spPr>
        <p:txBody>
          <a:bodyPr wrap="square" lIns="0" tIns="0" rIns="0" bIns="0" rtlCol="0" anchor="t"/>
          <a:lstStyle/>
          <a:p>
            <a:pPr indent="0" marL="0">
              <a:buNone/>
            </a:pPr>
            <a:r>
              <a:rPr lang="en-US" sz="3000" b="1" dirty="0">
                <a:solidFill>
                  <a:schemeClr val="tx1"/>
                </a:solidFill>
              </a:rPr>
              <a:t>Who would use it</a:t>
            </a:r>
            <a:endParaRPr lang="en-US" sz="3000" dirty="0"/>
          </a:p>
        </p:txBody>
      </p:sp>
      <p:graphicFrame>
        <p:nvGraphicFramePr>
          <p:cNvPr id="8" name="Users table"/>
          <p:cNvGraphicFramePr>
            <a:graphicFrameLocks noGrp="1"/>
          </p:cNvGraphicFramePr>
          <p:nvPr>
            <p:extLst>
              <p:ext uri="{D42A27DB-BD31-4B8C-83A1-F6EECF244321}">
                <p14:modId xmlns:p14="http://schemas.microsoft.com/office/powerpoint/2010/main" val="1579011935"/>
              </p:ext>
            </p:extLst>
          </p:nvPr>
        </p:nvGraphicFramePr>
        <p:xfrm>
          <a:off x="822960" y="1508760"/>
          <a:ext cx="10543032" cy="914400"/>
        </p:xfrm>
        <a:graphic>
          <a:graphicData uri="http://schemas.openxmlformats.org/drawingml/2006/table">
            <a:tbl>
              <a:tblPr/>
              <a:tblGrid>
                <a:gridCol w="3291840"/>
                <a:gridCol w="7251192"/>
              </a:tblGrid>
              <a:tr h="603504">
                <a:tc>
                  <a:txBody>
                    <a:bodyPr/>
                    <a:lstStyle/>
                    <a:p>
                      <a:pPr algn="l" indent="0" marL="0">
                        <a:buNone/>
                      </a:pPr>
                      <a:r>
                        <a:rPr lang="en-US" sz="1400" b="1" dirty="0">
                          <a:solidFill>
                            <a:schemeClr val="tx2"/>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c>
                  <a:txBody>
                    <a:bodyPr/>
                    <a:lstStyle/>
                    <a:p>
                      <a:pPr algn="l" indent="0" marL="0">
                        <a:buNone/>
                      </a:pPr>
                      <a:r>
                        <a:rPr lang="en-US" sz="1400" b="1" dirty="0">
                          <a:solidFill>
                            <a:schemeClr val="tx2"/>
                          </a:solidFill>
                          <a:latin typeface="Calibri" pitchFamily="34" charset="0"/>
                          <a:ea typeface="Calibri" pitchFamily="34" charset="-122"/>
                          <a:cs typeface="Calibri" pitchFamily="34" charset="-120"/>
                        </a:rPr>
                        <a:t>What they'd check</a:t>
                      </a:r>
                      <a:endParaRPr lang="en-US" sz="1400" dirty="0">
                        <a:latin typeface="Calibri" charset="0"/>
                        <a:ea typeface="Calibri" charset="0"/>
                        <a:cs typeface="Calibri" charset="0"/>
                      </a:endParaRPr>
                    </a:p>
                  </a:txBody>
                  <a:tcPr marL="0" marR="109728" marT="54864" marB="54864" anchor="b">
                    <a:lnL w="0" cap="flat" cmpd="sng" algn="ctr">
                      <a:noFill/>
                    </a:lnL>
                    <a:lnR w="0" cap="flat" cmpd="sng" algn="ctr">
                      <a:noFill/>
                    </a:lnR>
                    <a:lnT w="0" cap="flat" cmpd="sng" algn="ctr">
                      <a:noFill/>
                    </a:lnT>
                    <a:lnB w="19050" cap="flat" cmpd="sng" algn="ctr">
                      <a:solidFill>
                        <a:srgbClr val="1F2A44"/>
                      </a:solidFill>
                      <a:prstDash val="solid"/>
                      <a:round/>
                      <a:headEnd type="none" w="med" len="med"/>
                      <a:tailEnd type="none" w="med" len="med"/>
                    </a:lnB>
                  </a:tcPr>
                </a:tc>
              </a:tr>
              <a:tr h="603504">
                <a:tc>
                  <a:txBody>
                    <a:bodyPr/>
                    <a:lstStyle/>
                    <a:p>
                      <a:pPr algn="l" indent="0" marL="0">
                        <a:buNone/>
                      </a:pPr>
                      <a:r>
                        <a:rPr lang="en-US" sz="1800" b="1" dirty="0">
                          <a:solidFill>
                            <a:schemeClr val="tx1"/>
                          </a:solidFill>
                          <a:latin typeface="Calibri" pitchFamily="34" charset="0"/>
                          <a:ea typeface="Calibri" pitchFamily="34" charset="-122"/>
                          <a:cs typeface="Calibri" pitchFamily="34" charset="-120"/>
                        </a:rPr>
                        <a:t>Marketing and legal</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A campaign or a press release, before it goes out</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603504">
                <a:tc>
                  <a:txBody>
                    <a:bodyPr/>
                    <a:lstStyle/>
                    <a:p>
                      <a:pPr algn="l" indent="0" marL="0">
                        <a:buNone/>
                      </a:pPr>
                      <a:r>
                        <a:rPr lang="en-US" sz="1800" b="1" dirty="0">
                          <a:solidFill>
                            <a:schemeClr val="tx1"/>
                          </a:solidFill>
                          <a:latin typeface="Calibri" pitchFamily="34" charset="0"/>
                          <a:ea typeface="Calibri" pitchFamily="34" charset="-122"/>
                          <a:cs typeface="Calibri" pitchFamily="34" charset="-120"/>
                        </a:rPr>
                        <a:t>Documentation</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Help pages that went out of date when a price or a limit changed</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12700" cap="flat" cmpd="sng" algn="ctr">
                      <a:solidFill>
                        <a:srgbClr val="D5DDEF"/>
                      </a:solidFill>
                      <a:prstDash val="solid"/>
                      <a:round/>
                      <a:headEnd type="none" w="med" len="med"/>
                      <a:tailEnd type="none" w="med" len="med"/>
                    </a:lnB>
                  </a:tcPr>
                </a:tc>
              </a:tr>
              <a:tr h="603504">
                <a:tc>
                  <a:txBody>
                    <a:bodyPr/>
                    <a:lstStyle/>
                    <a:p>
                      <a:pPr algn="l" indent="0" marL="0">
                        <a:buNone/>
                      </a:pPr>
                      <a:r>
                        <a:rPr lang="en-US" sz="1800" b="1" dirty="0">
                          <a:solidFill>
                            <a:schemeClr val="tx1"/>
                          </a:solidFill>
                          <a:latin typeface="Calibri" pitchFamily="34" charset="0"/>
                          <a:ea typeface="Calibri" pitchFamily="34" charset="-122"/>
                          <a:cs typeface="Calibri" pitchFamily="34" charset="-120"/>
                        </a:rPr>
                        <a:t>Chatbot teams</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Answers that still give last quarter's numbers</a:t>
                      </a:r>
                      <a:endParaRPr lang="en-US" sz="1800" dirty="0">
                        <a:latin typeface="Calibri" charset="0"/>
                        <a:ea typeface="Calibri" charset="0"/>
                        <a:cs typeface="Calibri" charset="0"/>
                      </a:endParaRPr>
                    </a:p>
                  </a:txBody>
                  <a:tcPr marL="0" marR="109728"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4" name="Practical rule"/>
          <p:cNvSpPr/>
          <p:nvPr/>
        </p:nvSpPr>
        <p:spPr>
          <a:xfrm>
            <a:off x="822960" y="4206240"/>
            <a:ext cx="10543032" cy="0"/>
          </a:xfrm>
          <a:prstGeom prst="line">
            <a:avLst/>
          </a:prstGeom>
          <a:noFill/>
          <a:ln w="12700">
            <a:solidFill>
              <a:schemeClr val="accent2"/>
            </a:solidFill>
            <a:prstDash val="solid"/>
          </a:ln>
        </p:spPr>
      </p:sp>
      <p:sp>
        <p:nvSpPr>
          <p:cNvPr id="5" name="How it runs"/>
          <p:cNvSpPr txBox="1"/>
          <p:nvPr/>
        </p:nvSpPr>
        <p:spPr>
          <a:xfrm>
            <a:off x="822960" y="4389120"/>
            <a:ext cx="9875520" cy="914400"/>
          </a:xfrm>
          <a:prstGeom prst="rect">
            <a:avLst/>
          </a:prstGeom>
          <a:noFill/>
          <a:ln/>
        </p:spPr>
        <p:txBody>
          <a:bodyPr wrap="square" lIns="0" tIns="0" rIns="0" bIns="0" rtlCol="0" anchor="t"/>
          <a:lstStyle/>
          <a:p>
            <a:pPr indent="0" marL="0">
              <a:buNone/>
            </a:pPr>
            <a:r>
              <a:rPr lang="en-US" sz="1800" b="1" dirty="0">
                <a:solidFill>
                  <a:schemeClr val="tx1"/>
                </a:solidFill>
              </a:rPr>
              <a:t>How it runs: </a:t>
            </a:r>
            <a:pPr indent="0" marL="0">
              <a:buNone/>
            </a:pPr>
            <a:r>
              <a:rPr lang="en-US" sz="1800" dirty="0">
                <a:solidFill>
                  <a:schemeClr val="tx2"/>
                </a:solidFill>
              </a:rPr>
              <a:t>you give it a spreadsheet of sentences and dates. It runs offline on a laptop, with no API costs, and handled 16,000 sentences in just over a minute.</a:t>
            </a:r>
            <a:endParaRPr lang="en-US" sz="1800" dirty="0"/>
          </a:p>
        </p:txBody>
      </p:sp>
      <p:sp>
        <p:nvSpPr>
          <p:cNvPr id="25" name="Slide Number Placeholder 0"/>
          <p:cNvSpPr>
            <a:spLocks noGrp="1"/>
          </p:cNvSpPr>
          <p:nvPr>
            <p:ph type="sldNum" sz="quarter" idx="4294967295"/>
          </p:nvPr>
        </p:nvSpPr>
        <p:spPr>
          <a:xfrm>
            <a:off x="1090879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8229600" cy="1188720"/>
          </a:xfrm>
          <a:prstGeom prst="rect">
            <a:avLst/>
          </a:prstGeom>
          <a:noFill/>
          <a:ln/>
        </p:spPr>
        <p:txBody>
          <a:bodyPr wrap="square" lIns="0" tIns="0" rIns="0" bIns="0" rtlCol="0" anchor="b"/>
          <a:lstStyle/>
          <a:p>
            <a:pPr indent="0" marL="0">
              <a:buNone/>
            </a:pPr>
            <a:r>
              <a:rPr lang="en-US" sz="4800" b="1" dirty="0">
                <a:solidFill>
                  <a:schemeClr val="bg1"/>
                </a:solidFill>
              </a:rPr>
              <a:t>Thank you</a:t>
            </a:r>
            <a:endParaRPr lang="en-US" sz="4800" dirty="0"/>
          </a:p>
        </p:txBody>
      </p:sp>
      <p:sp>
        <p:nvSpPr>
          <p:cNvPr id="3" name="Text 0"/>
          <p:cNvSpPr/>
          <p:nvPr>
            <p:ph idx="101" type="body" hasCustomPrompt="1"/>
          </p:nvPr>
        </p:nvSpPr>
        <p:spPr>
          <a:xfrm>
            <a:off x="822960" y="3383280"/>
            <a:ext cx="7315200" cy="1097280"/>
          </a:xfrm>
          <a:prstGeom prst="rect">
            <a:avLst/>
          </a:prstGeom>
          <a:noFill/>
          <a:ln/>
        </p:spPr>
        <p:txBody>
          <a:bodyPr wrap="square" lIns="0" tIns="0" rIns="0" bIns="0" rtlCol="0" anchor="t"/>
          <a:lstStyle/>
          <a:p>
            <a:pPr indent="0" marL="0">
              <a:buNone/>
            </a:pPr>
            <a:r>
              <a:rPr lang="en-US" sz="2200" dirty="0">
                <a:solidFill>
                  <a:schemeClr val="bg1"/>
                </a:solidFill>
              </a:rPr>
              <a:t>We'd be happy to show it live. Questions?</a:t>
            </a:r>
            <a:endParaRPr lang="en-US" sz="2200" dirty="0"/>
          </a:p>
        </p:txBody>
      </p:sp>
      <p:sp>
        <p:nvSpPr>
          <p:cNvPr id="4" name="Team line"/>
          <p:cNvSpPr txBox="1"/>
          <p:nvPr/>
        </p:nvSpPr>
        <p:spPr>
          <a:xfrm>
            <a:off x="822960" y="5943600"/>
            <a:ext cx="8229600" cy="365760"/>
          </a:xfrm>
          <a:prstGeom prst="rect">
            <a:avLst/>
          </a:prstGeom>
          <a:noFill/>
          <a:ln/>
        </p:spPr>
        <p:txBody>
          <a:bodyPr wrap="square" lIns="0" tIns="0" rIns="0" bIns="0" rtlCol="0" anchor="t"/>
          <a:lstStyle/>
          <a:p>
            <a:pPr indent="0" marL="0">
              <a:buNone/>
            </a:pPr>
            <a:r>
              <a:rPr lang="en-US" sz="1600" dirty="0">
                <a:solidFill>
                  <a:schemeClr val="bg1"/>
                </a:solidFill>
              </a:rPr>
              <a:t>Git Happens</a:t>
            </a:r>
            <a:endParaRPr lang="en-US" sz="1600" dirty="0"/>
          </a:p>
        </p:txBody>
      </p:sp>
    </p:spTree>
  </p:cSld>
  <p:clrMapOvr>
    <a:masterClrMapping/>
  </p:clrMapOvr>
</p:sld>
</file>

<file path=ppt/theme/theme1.xml><?xml version="1.0" encoding="utf-8"?>
<a:theme xmlns:a="http://schemas.openxmlformats.org/drawingml/2006/main" name="Git Happens plain">
  <a:themeElements>
    <a:clrScheme name="Git Happens plain">
      <a:dk1>
        <a:srgbClr val="1F2A44"/>
      </a:dk1>
      <a:lt1>
        <a:srgbClr val="FFFFFF"/>
      </a:lt1>
      <a:dk2>
        <a:srgbClr val="5A6683"/>
      </a:dk2>
      <a:lt2>
        <a:srgbClr val="F4F6FB"/>
      </a:lt2>
      <a:accent1>
        <a:srgbClr val="3562BF"/>
      </a:accent1>
      <a:accent2>
        <a:srgbClr val="D5DDEF"/>
      </a:accent2>
      <a:accent3>
        <a:srgbClr val="2F52A8"/>
      </a:accent3>
      <a:accent4>
        <a:srgbClr val="8FA9E6"/>
      </a:accent4>
      <a:accent5>
        <a:srgbClr val="C9D7F5"/>
      </a:accent5>
      <a:accent6>
        <a:srgbClr val="8A94AD"/>
      </a:accent6>
      <a:hlink>
        <a:srgbClr val="3562BF"/>
      </a:hlink>
      <a:folHlink>
        <a:srgbClr val="5A6683"/>
      </a:folHlink>
    </a:clrScheme>
    <a:fontScheme name="Git Happens 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Git Happens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it still true? — Git Happens</dc:title>
  <dc:subject>PptxGenJS Presentation</dc:subject>
  <dc:creator>Git Happens</dc:creator>
  <cp:lastModifiedBy>Git Happens</cp:lastModifiedBy>
  <cp:revision>1</cp:revision>
  <dcterms:created xsi:type="dcterms:W3CDTF">2026-10-29T00:28:38Z</dcterms:created>
  <dcterms:modified xsi:type="dcterms:W3CDTF">2026-10-29T00:28:38Z</dcterms:modified>
</cp:coreProperties>
</file>